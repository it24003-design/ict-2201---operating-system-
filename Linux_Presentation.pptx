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8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26695" y="3187700"/>
            <a:ext cx="3867150" cy="1477010"/>
          </a:xfrm>
          <a:prstGeom prst="rect">
            <a:avLst/>
          </a:prstGeom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US" sz="1500" b="1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endParaRPr 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</a:rPr>
              <a:t>Name : Md Obayet Khan</a:t>
            </a:r>
            <a:endParaRPr 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</a:rPr>
              <a:t>ID : IT24003</a:t>
            </a:r>
            <a:endParaRPr 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</a:rPr>
              <a:t>Year : 2nd   Semester : 2nd</a:t>
            </a:r>
            <a:endParaRPr 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Department </a:t>
            </a:r>
            <a:r>
              <a:rPr lang="en-US" sz="1500" b="1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</a:rPr>
              <a:t> Of Information and Communication Technology,MBSTU</a:t>
            </a:r>
            <a:endParaRPr lang="en-US" sz="1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38115" y="3188335"/>
            <a:ext cx="3691890" cy="1476375"/>
          </a:xfrm>
          <a:prstGeom prst="rect">
            <a:avLst/>
          </a:prstGeom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sz="1500" b="1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</a:rPr>
              <a:t>Supervised By : </a:t>
            </a:r>
            <a:endParaRPr lang="en-US" sz="15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Dr. Nazrul Islam</a:t>
            </a:r>
            <a:endParaRPr lang="en-US" sz="1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Associate Professor,</a:t>
            </a:r>
            <a:endParaRPr lang="en-US" sz="1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Department of Information and Communication Technology, </a:t>
            </a:r>
            <a:endParaRPr lang="en-US" sz="1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500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MBSTU</a:t>
            </a:r>
            <a:endParaRPr lang="en-US" sz="1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MBSTU_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675" y="-85725"/>
            <a:ext cx="1136650" cy="103060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27330" y="1367790"/>
            <a:ext cx="3656330" cy="360045"/>
          </a:xfrm>
          <a:prstGeom prst="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US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PRESENTATION TOPIC: LINUX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26695" y="1856105"/>
            <a:ext cx="4344670" cy="346075"/>
          </a:xfrm>
          <a:prstGeom prst="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US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COURSE </a:t>
            </a:r>
            <a:r>
              <a:rPr lang="en-US" b="1" dirty="0" err="1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TITLE:OPERATING SYSTEM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226695" y="2316480"/>
            <a:ext cx="2899410" cy="334645"/>
          </a:xfrm>
          <a:prstGeom prst="rect">
            <a:avLst/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US" b="1" dirty="0">
                <a:solidFill>
                  <a:srgbClr val="1E3A5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COURSE CODE:ICT-2201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65760" y="777240"/>
            <a:ext cx="84124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1200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LINUX</a:t>
            </a:r>
            <a:endParaRPr lang="en-US" sz="9600" dirty="0"/>
          </a:p>
        </p:txBody>
      </p:sp>
      <p:sp>
        <p:nvSpPr>
          <p:cNvPr id="36" name="Text 34"/>
          <p:cNvSpPr/>
          <p:nvPr/>
        </p:nvSpPr>
        <p:spPr>
          <a:xfrm>
            <a:off x="365760" y="22402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Operating System That Runs The World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365760" y="2880360"/>
            <a:ext cx="1920240" cy="178308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65760" y="2971800"/>
            <a:ext cx="1920240" cy="9806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96.3%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365760" y="3914546"/>
            <a:ext cx="1920240" cy="677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 500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Supercomputers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2880360"/>
            <a:ext cx="1920240" cy="178308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514600" y="2971800"/>
            <a:ext cx="1920240" cy="9806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90%+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2514600" y="3914546"/>
            <a:ext cx="1920240" cy="677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Cloud &amp; Web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880360"/>
            <a:ext cx="1920240" cy="178308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663440" y="2971800"/>
            <a:ext cx="1920240" cy="9806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~3B+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4663440" y="3914546"/>
            <a:ext cx="1920240" cy="677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Android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Devices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12280" y="2880360"/>
            <a:ext cx="1920240" cy="178308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812280" y="2971800"/>
            <a:ext cx="1920240" cy="9806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100%</a:t>
            </a:r>
            <a:endParaRPr lang="en-US" sz="4000" dirty="0"/>
          </a:p>
        </p:txBody>
      </p:sp>
      <p:sp>
        <p:nvSpPr>
          <p:cNvPr id="48" name="Text 46"/>
          <p:cNvSpPr/>
          <p:nvPr/>
        </p:nvSpPr>
        <p:spPr>
          <a:xfrm>
            <a:off x="6812280" y="3914546"/>
            <a:ext cx="1920240" cy="677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Stock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Exchanges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&amp; Open Source  •  Born 1991  •  Torvalds' Creation  •  Powers The Internet</a:t>
            </a:r>
            <a:endParaRPr lang="en-US" sz="1100" dirty="0"/>
          </a:p>
        </p:txBody>
      </p:sp>
      <p:sp>
        <p:nvSpPr>
          <p:cNvPr id="8" name="Text Box 7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WHAT IS LINUX?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3474720"/>
          </a:xfrm>
          <a:prstGeom prst="rect">
            <a:avLst/>
          </a:prstGeom>
          <a:solidFill>
            <a:srgbClr val="EBF5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9144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Kernel</a:t>
            </a:r>
            <a:endParaRPr lang="en-US" sz="2200" b="1" dirty="0">
              <a:solidFill>
                <a:srgbClr val="1A6FB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is a free, open-source operating system kernel first released in 1991 by Linus Torvalds, a Finnish computer science student.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kernel is the core of an OS — it manages CPU, memory, hardware devices, and system calls. Linux is the bridge between your software and your machine's hardware.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with GNU tools, it forms a complete OS (GNU/Linux) used across desktops, servers, embedded systems, and supercomputers.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7772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GNU/Linux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868680"/>
            <a:ext cx="3017520" cy="457200"/>
          </a:xfrm>
          <a:prstGeom prst="rect">
            <a:avLst/>
          </a:prstGeom>
          <a:solidFill>
            <a:srgbClr val="EBF5FF"/>
          </a:solidFill>
          <a:ln w="2540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0" y="868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3017520" cy="457200"/>
          </a:xfrm>
          <a:prstGeom prst="rect">
            <a:avLst/>
          </a:prstGeom>
          <a:solidFill>
            <a:srgbClr val="EBF5FF"/>
          </a:solidFill>
          <a:ln w="254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52160" y="1417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GNU Utilities &amp; Shell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3017520" cy="457200"/>
          </a:xfrm>
          <a:prstGeom prst="rect">
            <a:avLst/>
          </a:prstGeom>
          <a:solidFill>
            <a:srgbClr val="EBF5FF"/>
          </a:solidFill>
          <a:ln w="2540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852160" y="19659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 Libraries (glibc)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514600"/>
            <a:ext cx="3017520" cy="45720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852160" y="2514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LINUX KERNEL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063240"/>
            <a:ext cx="3017520" cy="457200"/>
          </a:xfrm>
          <a:prstGeom prst="rect">
            <a:avLst/>
          </a:prstGeom>
          <a:solidFill>
            <a:srgbClr val="EBF5FF"/>
          </a:solidFill>
          <a:ln w="254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52160" y="30632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Hardware (CPU, RAM, Disk)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1325880"/>
            <a:ext cx="0" cy="9144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60920" y="1874520"/>
            <a:ext cx="0" cy="9144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60920" y="2423160"/>
            <a:ext cx="0" cy="9144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60920" y="2971800"/>
            <a:ext cx="0" cy="9144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3" name="Text Box 22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HISTORY &amp; ORIGINS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7589520" cy="0"/>
          </a:xfrm>
          <a:prstGeom prst="line">
            <a:avLst/>
          </a:prstGeom>
          <a:noFill/>
          <a:ln w="381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704088"/>
            <a:ext cx="237744" cy="237744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143000"/>
            <a:ext cx="1554480" cy="1280160"/>
          </a:xfrm>
          <a:prstGeom prst="rect">
            <a:avLst/>
          </a:prstGeom>
          <a:solidFill>
            <a:srgbClr val="EBF5FF"/>
          </a:solidFill>
          <a:ln w="1905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1887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1969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4081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Unix created at Bell Labs by Thompson &amp; Ritchie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704088"/>
            <a:ext cx="237744" cy="237744"/>
          </a:xfrm>
          <a:prstGeom prst="ellipse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920240" y="1143000"/>
            <a:ext cx="1554480" cy="1280160"/>
          </a:xfrm>
          <a:prstGeom prst="rect">
            <a:avLst/>
          </a:prstGeom>
          <a:solidFill>
            <a:srgbClr val="EBF5FF"/>
          </a:solidFill>
          <a:ln w="1905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20240" y="11887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1983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93392" y="1554480"/>
            <a:ext cx="14081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GNU Project launched by Richard Stallman (free software movement)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50208" y="704088"/>
            <a:ext cx="237744" cy="237744"/>
          </a:xfrm>
          <a:prstGeom prst="ellipse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566160" y="1143000"/>
            <a:ext cx="1554480" cy="1280160"/>
          </a:xfrm>
          <a:prstGeom prst="rect">
            <a:avLst/>
          </a:prstGeom>
          <a:solidFill>
            <a:srgbClr val="EBF5FF"/>
          </a:solidFill>
          <a:ln w="1905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66160" y="11887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1991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1554480"/>
            <a:ext cx="14081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Linus Torvalds (age 21) posts Linux 0.01 to the internet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96128" y="704088"/>
            <a:ext cx="237744" cy="237744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212080" y="1143000"/>
            <a:ext cx="1554480" cy="1280160"/>
          </a:xfrm>
          <a:prstGeom prst="rect">
            <a:avLst/>
          </a:prstGeom>
          <a:solidFill>
            <a:srgbClr val="EBF5FF"/>
          </a:solidFill>
          <a:ln w="1905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0" y="11887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1994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85232" y="1554480"/>
            <a:ext cx="14081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1.0 released — 176,250 lines of code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42048" y="704088"/>
            <a:ext cx="237744" cy="237744"/>
          </a:xfrm>
          <a:prstGeom prst="ellipse">
            <a:avLst/>
          </a:prstGeom>
          <a:solidFill>
            <a:srgbClr val="6941C6"/>
          </a:solidFill>
          <a:ln w="1270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858000" y="1143000"/>
            <a:ext cx="1554480" cy="1280160"/>
          </a:xfrm>
          <a:prstGeom prst="rect">
            <a:avLst/>
          </a:prstGeom>
          <a:solidFill>
            <a:srgbClr val="EBF5FF"/>
          </a:solidFill>
          <a:ln w="1905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0" y="11887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2004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31152" y="1554480"/>
            <a:ext cx="140817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Ubuntu released — Linux reaches the desktop mainstream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8595360" cy="1371600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TODAY (2024–2025)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powers 96.3% of the world's top 500 supercomputers, the majority of web servers, all Android phones, IoT devices, AI/ML infrastructure, and the International Space Station. The kernel now has 30+ million lines of code with 15,000+ contributors from companies like Google, Intel, IBM, and Red Hat.</a:t>
            </a:r>
            <a:endParaRPr lang="en-US" sz="1250" dirty="0"/>
          </a:p>
        </p:txBody>
      </p:sp>
      <p:sp>
        <p:nvSpPr>
          <p:cNvPr id="28" name="Text Box 27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KERNEL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51206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011680" y="19202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LINUX KERNEL (Monolithic)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2423160"/>
            <a:ext cx="1508760" cy="502920"/>
          </a:xfrm>
          <a:prstGeom prst="rect">
            <a:avLst/>
          </a:prstGeom>
          <a:solidFill>
            <a:srgbClr val="EBF5FF"/>
          </a:solidFill>
          <a:ln w="1905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148840" y="242316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Process Mgmt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4760" y="2423160"/>
            <a:ext cx="1508760" cy="502920"/>
          </a:xfrm>
          <a:prstGeom prst="rect">
            <a:avLst/>
          </a:prstGeom>
          <a:solidFill>
            <a:srgbClr val="EBF5FF"/>
          </a:solidFill>
          <a:ln w="1905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94760" y="242316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Memory Mgmt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2423160"/>
            <a:ext cx="1508760" cy="502920"/>
          </a:xfrm>
          <a:prstGeom prst="rect">
            <a:avLst/>
          </a:prstGeom>
          <a:solidFill>
            <a:srgbClr val="EBF5FF"/>
          </a:solidFill>
          <a:ln w="1905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94960" y="242316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 Systems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3063240"/>
            <a:ext cx="1508760" cy="502920"/>
          </a:xfrm>
          <a:prstGeom prst="rect">
            <a:avLst/>
          </a:prstGeom>
          <a:solidFill>
            <a:srgbClr val="EBF5FF"/>
          </a:solidFill>
          <a:ln w="1905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30632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Device Drivers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4760" y="3063240"/>
            <a:ext cx="1508760" cy="502920"/>
          </a:xfrm>
          <a:prstGeom prst="rect">
            <a:avLst/>
          </a:prstGeom>
          <a:solidFill>
            <a:srgbClr val="EBF5FF"/>
          </a:solidFill>
          <a:ln w="1905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94760" y="30632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3063240"/>
            <a:ext cx="1508760" cy="502920"/>
          </a:xfrm>
          <a:prstGeom prst="rect">
            <a:avLst/>
          </a:prstGeom>
          <a:solidFill>
            <a:srgbClr val="EBF5FF"/>
          </a:solidFill>
          <a:ln w="1905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94960" y="3063240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(LSM)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0" y="4663440"/>
            <a:ext cx="5120640" cy="347472"/>
          </a:xfrm>
          <a:prstGeom prst="rect">
            <a:avLst/>
          </a:prstGeom>
          <a:solidFill>
            <a:srgbClr val="DDE8F5"/>
          </a:solidFill>
          <a:ln w="254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11680" y="4663440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HARDWARE  (CPU  |  RAM  |  Storage  |  Network  |  GPU)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EBF5FF"/>
          </a:solidFill>
          <a:ln w="127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SPACE — Applications, Shell (bash/zsh), Daemons, Desktop Environments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600200"/>
            <a:ext cx="0" cy="32004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16095" y="1645793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 Calls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4480560"/>
            <a:ext cx="0" cy="18288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5" name="Text Box 24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LINUX DISTRIBUTIONS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Linux + GNU tools + Package Manager + Desktop Environment =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D94F3D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188720"/>
            <a:ext cx="2011680" cy="2743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188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BEGINNER-FRIENDLY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Ubuntu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Debian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 &amp; Servers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1A6FBF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2011680" cy="27432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50592" y="1188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ROCK SOLID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50592" y="148132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Debian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2032" y="188366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Independent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42032" y="2103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Stability-first servers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118872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1A6FBF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26864" y="1188720"/>
            <a:ext cx="2011680" cy="27432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26864" y="1188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ADVANCED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26864" y="148132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Arch Linux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18304" y="188366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Independent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8304" y="2103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Cutting-edge, DIY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118872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6941C6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03136" y="1188720"/>
            <a:ext cx="2011680" cy="274320"/>
          </a:xfrm>
          <a:prstGeom prst="rect">
            <a:avLst/>
          </a:prstGeom>
          <a:solidFill>
            <a:srgbClr val="6941C6"/>
          </a:solidFill>
          <a:ln w="1270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03136" y="11887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DEVELOPER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03136" y="148132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Fedora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94576" y="188366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Red Hat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94576" y="2103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Developers &amp; latest tech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65176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D94F3D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74320" y="2651760"/>
            <a:ext cx="2011680" cy="2743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" y="26517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RHEL/CentOS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760" y="334670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Red Hat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production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50592" y="265176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450592" y="2651760"/>
            <a:ext cx="2011680" cy="274320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450592" y="26517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450592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Kali Linux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542032" y="334670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Debian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42032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Penetration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26864" y="265176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C08A00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626864" y="2651760"/>
            <a:ext cx="2011680" cy="274320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626864" y="26517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LIGHTWEIGHT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26864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Alpine Linux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18304" y="334670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Independent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18304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Containers &amp; IoT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03136" y="2651760"/>
            <a:ext cx="2011680" cy="128016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  <a:effectLst>
            <a:outerShdw blurRad="101600" dist="25400" dir="8100000" algn="bl" rotWithShape="0">
              <a:srgbClr val="1A2B4A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803136" y="2651760"/>
            <a:ext cx="2011680" cy="274320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803136" y="26517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MOBILE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03136" y="294436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Android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94576" y="334670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Base: Linux Kernel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94576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(3B+ devices)</a:t>
            </a:r>
            <a:endParaRPr lang="en-US" sz="1000" dirty="0"/>
          </a:p>
        </p:txBody>
      </p:sp>
      <p:sp>
        <p:nvSpPr>
          <p:cNvPr id="53" name="Text Box 52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OPEN SOURCE PHILOSOPHY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EBF5FF"/>
          </a:solidFill>
          <a:ln w="2540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</a:t>
            </a:r>
            <a:r>
              <a:rPr lang="en-US" sz="2000" b="1" i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Talk is cheap. Show me the code.</a:t>
            </a:r>
            <a:r>
              <a:rPr lang="en-US" sz="14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  — Linus Torvalds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Four Freedoms (GNU/GPL)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411480" cy="411480"/>
          </a:xfrm>
          <a:prstGeom prst="ellipse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23317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Freedom 0: Run the software for any purpose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53512"/>
            <a:ext cx="411480" cy="411480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295351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953512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Freedom 1: Study and modify the source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75304"/>
            <a:ext cx="411480" cy="411480"/>
          </a:xfrm>
          <a:prstGeom prst="ellipse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4320" y="3575304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57530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Freedom 2: Redistribute copies freely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197096"/>
            <a:ext cx="411480" cy="411480"/>
          </a:xfrm>
          <a:prstGeom prst="ellipse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4320" y="419709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197096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Freedom 3: Distribute your modified versions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783080"/>
            <a:ext cx="3291840" cy="2834640"/>
          </a:xfrm>
          <a:prstGeom prst="rect">
            <a:avLst/>
          </a:prstGeom>
          <a:solidFill>
            <a:srgbClr val="EBF5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0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Licenses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22860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GPL v2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kernel license. Copyleft — modifications must stay open.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28346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8346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Permissive — use anywhere, even proprietary.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0" y="33832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3832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Permissive + patent protection.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39319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BSD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931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Ultra-permissive, minimal restrictions.</a:t>
            </a:r>
            <a:endParaRPr lang="en-US" sz="950" dirty="0"/>
          </a:p>
        </p:txBody>
      </p:sp>
      <p:sp>
        <p:nvSpPr>
          <p:cNvPr id="29" name="Text Box 28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WHERE LINUX RUNS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Market Share by Domain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Supercomputers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188720"/>
            <a:ext cx="5120640" cy="320040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77440" y="1188720"/>
            <a:ext cx="4931176" cy="320040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0" y="11430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96.3%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70992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1755648"/>
            <a:ext cx="5120640" cy="320040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377440" y="1755648"/>
            <a:ext cx="4608576" cy="32004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589520" y="170992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227685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Cloud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322576"/>
            <a:ext cx="5120640" cy="320040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377440" y="2322576"/>
            <a:ext cx="4454957" cy="320040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589520" y="2276856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843784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Embedded/IoT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2889504"/>
            <a:ext cx="5120640" cy="320040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377440" y="2889504"/>
            <a:ext cx="3584448" cy="3200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589520" y="2843784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410712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(Android)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3456432"/>
            <a:ext cx="5120640" cy="320040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377440" y="3456432"/>
            <a:ext cx="3686861" cy="320040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89520" y="3410712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72%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39776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4023360"/>
            <a:ext cx="5120640" cy="320040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377440" y="4023360"/>
            <a:ext cx="230429" cy="320040"/>
          </a:xfrm>
          <a:prstGeom prst="rect">
            <a:avLst/>
          </a:prstGeom>
          <a:solidFill>
            <a:srgbClr val="6941C6"/>
          </a:solidFill>
          <a:ln w="1270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589520" y="39776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4.5%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Google  •  🎬 Netflix  •  🚀 NASA / ISS  •  💰 NYSE  •  🤖 Tesla Autopilot  •  🧬 CERN LHC  •  🛸 SpaceX Falcon  •  📱 Android</a:t>
            </a:r>
            <a:endParaRPr lang="en-US" sz="1100" dirty="0"/>
          </a:p>
        </p:txBody>
      </p:sp>
      <p:sp>
        <p:nvSpPr>
          <p:cNvPr id="31" name="Text Box 30"/>
          <p:cNvSpPr txBox="1"/>
          <p:nvPr/>
        </p:nvSpPr>
        <p:spPr>
          <a:xfrm>
            <a:off x="8289290" y="5029835"/>
            <a:ext cx="878840" cy="113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THE TERMINAL — LINUX'S SUPERPOWER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solidFill>
            <a:srgbClr val="EBF5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●  ●  ●    bash — root@linux:~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root@linux:~# </a:t>
            </a:r>
            <a:r>
              <a:rPr lang="en-US" sz="11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 -la /home/user/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drwxr-xr-x  5 user user  4096 Apr 21 10:22 Documents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-rw-r--r--  1 user user  1248 Apr 20 09:14 notes.txt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root@linux:~# </a:t>
            </a:r>
            <a:r>
              <a:rPr lang="en-US" sz="11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 aux | grep nginx | awk '{print $2, $11}'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1234 nginx: master process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1235 nginx: worker process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root@linux:~# </a:t>
            </a:r>
            <a:r>
              <a:rPr lang="en-US" sz="11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 -bn1 | head -5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 - 10:22:01  Tasks: 247 total, 1 running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CPU(s):  3.1%us, 0.5%sy — Mem: 16384MB total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4041648"/>
            <a:ext cx="2743200" cy="1005840"/>
          </a:xfrm>
          <a:prstGeom prst="rect">
            <a:avLst/>
          </a:prstGeom>
          <a:solidFill>
            <a:srgbClr val="EBF5FF"/>
          </a:solidFill>
          <a:ln w="1905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4069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34340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ls, cd, pwd  /  cp, mv, rm, mkdir  /  find, locate, tree  /  cat, less, head, tail  /  chmod, chown, ln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4041648"/>
            <a:ext cx="2743200" cy="1005840"/>
          </a:xfrm>
          <a:prstGeom prst="rect">
            <a:avLst/>
          </a:prstGeom>
          <a:solidFill>
            <a:srgbClr val="EBF5FF"/>
          </a:solidFill>
          <a:ln w="1905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46120" y="4069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Process &amp; System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434340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ps, top, htop  /  kill, killall, nice  /  systemctl, service  /  df, du, free  /  uname, uptime, who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4041648"/>
            <a:ext cx="2743200" cy="1005840"/>
          </a:xfrm>
          <a:prstGeom prst="rect">
            <a:avLst/>
          </a:prstGeom>
          <a:solidFill>
            <a:srgbClr val="EBF5FF"/>
          </a:solidFill>
          <a:ln w="1905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26480" y="4069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Network &amp; Admin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34340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ssh, scp, rsync  /  curl, wget, ping  /  netstat, ss, ip  /  iptables, ufw  /  grep, awk, sed, pipe</a:t>
            </a:r>
            <a:endParaRPr lang="en-US" sz="950" dirty="0"/>
          </a:p>
        </p:txBody>
      </p:sp>
      <p:sp>
        <p:nvSpPr>
          <p:cNvPr id="22" name="Text Box 21"/>
          <p:cNvSpPr txBox="1"/>
          <p:nvPr/>
        </p:nvSpPr>
        <p:spPr>
          <a:xfrm>
            <a:off x="8289290" y="5046980"/>
            <a:ext cx="878840" cy="96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LINUX IN AI, CLOUD &amp; DEVOPS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43200" cy="3017520"/>
          </a:xfrm>
          <a:prstGeom prst="rect">
            <a:avLst/>
          </a:prstGeom>
          <a:solidFill>
            <a:srgbClr val="EBF5FF"/>
          </a:solidFill>
          <a:ln w="25400">
            <a:solidFill>
              <a:srgbClr val="1A6FBF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749808"/>
            <a:ext cx="2743200" cy="36576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7498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256032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AWS, Google Cloud, and Azure all run Linux. Kubernetes (container orchestration), Docker containers, and virtually all cloud-native tools are Linux-first or Linux-only. Over 90% of cloud workloads run on Linux.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749808"/>
            <a:ext cx="2743200" cy="3017520"/>
          </a:xfrm>
          <a:prstGeom prst="rect">
            <a:avLst/>
          </a:prstGeom>
          <a:solidFill>
            <a:srgbClr val="EBF5FF"/>
          </a:solidFill>
          <a:ln w="25400">
            <a:solidFill>
              <a:srgbClr val="6941C6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154680" y="749808"/>
            <a:ext cx="2743200" cy="365760"/>
          </a:xfrm>
          <a:prstGeom prst="rect">
            <a:avLst/>
          </a:prstGeom>
          <a:solidFill>
            <a:srgbClr val="6941C6"/>
          </a:solidFill>
          <a:ln w="1270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46120" y="7498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&amp; 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170432"/>
            <a:ext cx="256032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CUDA, PyTorch, TensorFlow and every major AI framework runs natively on Linux. The world's AI training clusters — including those training GPT, Gemini, and Claude — run on Linux.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749808"/>
            <a:ext cx="2743200" cy="3017520"/>
          </a:xfrm>
          <a:prstGeom prst="rect">
            <a:avLst/>
          </a:prstGeom>
          <a:solidFill>
            <a:srgbClr val="EBF5FF"/>
          </a:solidFill>
          <a:ln w="25400">
            <a:solidFill>
              <a:srgbClr val="D94F3D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035040" y="749808"/>
            <a:ext cx="2743200" cy="3657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7498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DevOps &amp; Containers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170432"/>
            <a:ext cx="256032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uses Linux namespaces and cgroups. Kubernetes runs on Linux nodes. CI/CD pipelines (GitHub Actions, Jenkins) execute on Linux. Infrastructure as Code (Terraform, Ansible) targets Linux.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8595360" cy="685800"/>
          </a:xfrm>
          <a:prstGeom prst="rect">
            <a:avLst/>
          </a:prstGeom>
          <a:solidFill>
            <a:srgbClr val="EBF5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Docker ]  [ Kubernetes ]  [ AWS ]  [ TensorFlow ]  [ PyTorch ]  [ Git ]  [ Nginx ]  [ PostgreSQL ]  [ Redis ]  [ Ansible ]</a:t>
            </a:r>
            <a:endParaRPr lang="en-US" sz="1150" dirty="0"/>
          </a:p>
        </p:txBody>
      </p:sp>
      <p:sp>
        <p:nvSpPr>
          <p:cNvPr id="18" name="Text Box 17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/ LINUX SECURITY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3200400"/>
          </a:xfrm>
          <a:prstGeom prst="rect">
            <a:avLst/>
          </a:prstGeom>
          <a:solidFill>
            <a:srgbClr val="EBF5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80467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 Permission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61745"/>
            <a:ext cx="4572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-rwxr-xr--  user:group  filename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895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72895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type (- = file, d = directory)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75358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rwx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7535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Owner: Read + Write + Execute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5910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r-x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459736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Group: Read + Execute (no write)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90139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r--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890139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Others: Read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4645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chmod 755 file  →  rwxr-xr-x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chown user:group file  →  Change ownership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sudo command  →  Temporary root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749808"/>
            <a:ext cx="3383280" cy="3200400"/>
          </a:xfrm>
          <a:prstGeom prst="rect">
            <a:avLst/>
          </a:prstGeom>
          <a:solidFill>
            <a:srgbClr val="EBF5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23560" y="8046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129844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SELinux / AppArmor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23560" y="157276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 access control — NSA-developed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182880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iptables / nftables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23560" y="21031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Powerful kernel-level firewall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23591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SSH Key Auth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23560" y="263347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Public-key cryptography over passwords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288950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sudo &amp; su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23560" y="3163824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Least-privilege principle enforced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341985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Namespaces &amp; cgroups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23560" y="3694176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Isolation for containers and processes</a:t>
            </a:r>
            <a:endParaRPr lang="en-US" sz="1000" dirty="0"/>
          </a:p>
        </p:txBody>
      </p:sp>
      <p:sp>
        <p:nvSpPr>
          <p:cNvPr id="28" name="Text Box 27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/ COMMUNITY &amp;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65960" cy="1645920"/>
          </a:xfrm>
          <a:prstGeom prst="rect">
            <a:avLst/>
          </a:prstGeom>
          <a:solidFill>
            <a:srgbClr val="EBF5FF"/>
          </a:solidFill>
          <a:ln w="25400">
            <a:solidFill>
              <a:srgbClr val="1A7431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841248"/>
            <a:ext cx="1965960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30M+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704442"/>
            <a:ext cx="196596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Lines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Kernel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749808"/>
            <a:ext cx="1965960" cy="1645920"/>
          </a:xfrm>
          <a:prstGeom prst="rect">
            <a:avLst/>
          </a:prstGeom>
          <a:solidFill>
            <a:srgbClr val="EBF5FF"/>
          </a:solidFill>
          <a:ln w="25400">
            <a:solidFill>
              <a:srgbClr val="1A6FBF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41448" y="841248"/>
            <a:ext cx="1965960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15,000+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441448" y="1704442"/>
            <a:ext cx="196596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Contributors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08576" y="749808"/>
            <a:ext cx="1965960" cy="1645920"/>
          </a:xfrm>
          <a:prstGeom prst="rect">
            <a:avLst/>
          </a:prstGeom>
          <a:solidFill>
            <a:srgbClr val="EBF5FF"/>
          </a:solidFill>
          <a:ln w="25400">
            <a:solidFill>
              <a:srgbClr val="C08A00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841248"/>
            <a:ext cx="1965960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1,000+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08576" y="1704442"/>
            <a:ext cx="196596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Companies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Contributing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5704" y="749808"/>
            <a:ext cx="1965960" cy="1645920"/>
          </a:xfrm>
          <a:prstGeom prst="rect">
            <a:avLst/>
          </a:prstGeom>
          <a:solidFill>
            <a:srgbClr val="EBF5FF"/>
          </a:solidFill>
          <a:ln w="25400">
            <a:solidFill>
              <a:srgbClr val="D94F3D"/>
            </a:solidFill>
            <a:prstDash val="solid"/>
          </a:ln>
          <a:effectLst>
            <a:outerShdw blurRad="127000" dist="25400" dir="8100000" algn="bl" rotWithShape="0">
              <a:srgbClr val="1A2B4A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75704" y="841248"/>
            <a:ext cx="1965960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5.6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775704" y="1704442"/>
            <a:ext cx="1965960" cy="6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Patches Merged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Per Hour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8595360" cy="1965960"/>
          </a:xfrm>
          <a:prstGeom prst="rect">
            <a:avLst/>
          </a:prstGeom>
          <a:solidFill>
            <a:srgbClr val="EBF5FF"/>
          </a:solidFill>
          <a:ln w="1270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 Corporate Contributors to Linux Kernel (2023)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086"/>
            <a:ext cx="1097280" cy="878434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305348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13.1%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1788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47088" y="3503371"/>
            <a:ext cx="1097280" cy="657149"/>
          </a:xfrm>
          <a:prstGeom prst="rect">
            <a:avLst/>
          </a:prstGeom>
          <a:solidFill>
            <a:srgbClr val="1A7431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847088" y="3274771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9.8%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47088" y="41788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36976" y="3744773"/>
            <a:ext cx="1097280" cy="415747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36976" y="3516173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36976" y="41788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Linaro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26864" y="3798418"/>
            <a:ext cx="1097280" cy="362102"/>
          </a:xfrm>
          <a:prstGeom prst="rect">
            <a:avLst/>
          </a:prstGeom>
          <a:solidFill>
            <a:srgbClr val="6941C6"/>
          </a:solidFill>
          <a:ln w="12700">
            <a:solidFill>
              <a:srgbClr val="6941C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26864" y="356981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5.4%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26864" y="41788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IBM/Red Hat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16752" y="3831946"/>
            <a:ext cx="1097280" cy="328574"/>
          </a:xfrm>
          <a:prstGeom prst="rect">
            <a:avLst/>
          </a:prstGeom>
          <a:solidFill>
            <a:srgbClr val="C08A00"/>
          </a:solidFill>
          <a:ln w="12700">
            <a:solidFill>
              <a:srgbClr val="C08A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016752" y="360334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16752" y="41788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06640" y="3912413"/>
            <a:ext cx="1097280" cy="248107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406640" y="3683813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3.7%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41788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</a:t>
            </a:r>
            <a:endParaRPr lang="en-US" sz="900" dirty="0"/>
          </a:p>
        </p:txBody>
      </p:sp>
      <p:sp>
        <p:nvSpPr>
          <p:cNvPr id="36" name="Text Box 35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DDE8F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74320" y="731520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1200" dirty="0">
                <a:solidFill>
                  <a:srgbClr val="1E3A5F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LINUX</a:t>
            </a:r>
            <a:endParaRPr lang="en-US" sz="8000" dirty="0"/>
          </a:p>
        </p:txBody>
      </p:sp>
      <p:sp>
        <p:nvSpPr>
          <p:cNvPr id="36" name="Text 34"/>
          <p:cNvSpPr/>
          <p:nvPr/>
        </p:nvSpPr>
        <p:spPr>
          <a:xfrm>
            <a:off x="274320" y="17830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RUNS THE WORLD.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274320" y="2606040"/>
            <a:ext cx="2697480" cy="530352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84048" y="2606040"/>
            <a:ext cx="24780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  </a:t>
            </a: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to use, study, modify &amp; distribute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08960" y="2606040"/>
            <a:ext cx="2697480" cy="530352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218688" y="2606040"/>
            <a:ext cx="24780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POWERFUL  </a:t>
            </a: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smartphones to supercomputers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2606040"/>
            <a:ext cx="2697480" cy="530352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053328" y="2606040"/>
            <a:ext cx="24780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SECURE  </a:t>
            </a: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Permission model + open-source scrutiny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227832"/>
            <a:ext cx="2697480" cy="530352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84048" y="3227832"/>
            <a:ext cx="24780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COMMUNITY  </a:t>
            </a: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15,000+ contributors, 1,000+ companies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08960" y="3227832"/>
            <a:ext cx="2697480" cy="530352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218688" y="3227832"/>
            <a:ext cx="24780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VERSATILE  </a:t>
            </a: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600+ distros for every use case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43600" y="3227832"/>
            <a:ext cx="2697480" cy="530352"/>
          </a:xfrm>
          <a:prstGeom prst="rect">
            <a:avLst/>
          </a:prstGeom>
          <a:solidFill>
            <a:srgbClr val="EBF5FF"/>
          </a:solidFill>
          <a:ln w="12700">
            <a:solidFill>
              <a:srgbClr val="1A743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053328" y="3227832"/>
            <a:ext cx="247802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FUTURE  </a:t>
            </a:r>
            <a:r>
              <a:rPr lang="en-US" sz="11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AI, cloud, IoT — all run on Linux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Thank You  |  Questions?  </a:t>
            </a:r>
            <a:endParaRPr lang="en-US" sz="1300" dirty="0"/>
          </a:p>
        </p:txBody>
      </p:sp>
      <p:sp>
        <p:nvSpPr>
          <p:cNvPr id="8" name="Text Box 7"/>
          <p:cNvSpPr txBox="1"/>
          <p:nvPr/>
        </p:nvSpPr>
        <p:spPr>
          <a:xfrm>
            <a:off x="8289290" y="5003800"/>
            <a:ext cx="878840" cy="1397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eaVert"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5960</Words>
  <Application>WPS Presentation</Application>
  <PresentationFormat>On-screen Show (16:9)</PresentationFormat>
  <Paragraphs>414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Impact</vt:lpstr>
      <vt:lpstr>Impact</vt:lpstr>
      <vt:lpstr>Impact</vt:lpstr>
      <vt:lpstr>Consolas</vt:lpstr>
      <vt:lpstr>Consolas</vt:lpstr>
      <vt:lpstr>Consolas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— The OS That Runs The World</dc:title>
  <dc:creator>Linux Presentation</dc:creator>
  <dc:subject>PptxGenJS Presentation</dc:subject>
  <cp:lastModifiedBy>Lenovo</cp:lastModifiedBy>
  <cp:revision>6</cp:revision>
  <dcterms:created xsi:type="dcterms:W3CDTF">2026-04-21T10:27:00Z</dcterms:created>
  <dcterms:modified xsi:type="dcterms:W3CDTF">2026-05-03T19:34:52Z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817E632AD6BA487AAB9DAE9AE31B716A_13</vt:lpwstr>
  </property>
  <property fmtid="{D5CDD505-2E9C-101B-9397-08002B2CF9AE}" pid="3" name="KSOProductBuildVer">
    <vt:lpwstr>1033-12.1.0.25180</vt:lpwstr>
  </property>
</Properties>
</file>